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72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abisee/cnn_dailymai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CNShivani7/DocSna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NShivani7/DocSnap-Intelligent-Summarization/blob/main/training_details.md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CNShivani7/DocSnap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datasets/abisee/cnn_dailymail" TargetMode="External"/><Relationship Id="rId5" Type="http://schemas.openxmlformats.org/officeDocument/2006/relationships/hyperlink" Target="https://github.com/CNShivani7/DocSnap-Intelligent-Summarization" TargetMode="External"/><Relationship Id="rId4" Type="http://schemas.openxmlformats.org/officeDocument/2006/relationships/hyperlink" Target="https://huggingface.co/spaces/CNShivani7/DocSna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(DATA SCIENCE) — MAJOR PROJECT  |  AMITY UNIVERSITY ONLINE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DocSnap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Summarization for Fast Decision Making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3657600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summarization system using T5-base transformer fine-tuned on CNN/DailyMail.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63335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ROUGE-1: 0.4584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3832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63335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67.9%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Advantage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63335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33832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63335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287K+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3544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Articles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Chimalamarry Naga Shivani Sharma  |  A9920124015210(el)  |  Mentor: Kunwar Saurabh Bisen  | 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chapters covering the full DocSnap research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DEE8E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85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BE3ED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600200"/>
            <a:ext cx="685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 &amp; NLP Evolution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E9DA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685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EE3E1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017520"/>
            <a:ext cx="685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30175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Model Results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5EADD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34840"/>
            <a:ext cx="685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88720" y="44348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Conclusion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43434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2EAE8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434840"/>
            <a:ext cx="685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49440" y="44348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Limitations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08960" y="5806440"/>
            <a:ext cx="5943600" cy="685800"/>
          </a:xfrm>
          <a:prstGeom prst="roundRect">
            <a:avLst>
              <a:gd name="adj" fmla="val 10667"/>
            </a:avLst>
          </a:prstGeom>
          <a:solidFill>
            <a:srgbClr val="DEE8E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5833872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40480" y="583387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Live Demo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1 —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Information Overload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document summarization matters in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</a:rPr>
              <a:t>Professionals today face: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28251D"/>
                </a:solidFill>
              </a:rPr>
              <a:t>• Exponential growth in unstructured textual data
• Manual reading bottlenecks in decision pipelines
• Existing tools lack domain flexibility
• Gap between NLP research and production deployment
</a:t>
            </a:r>
            <a:r>
              <a:rPr lang="en-US" sz="600" dirty="0">
                <a:solidFill>
                  <a:srgbClr val="000000"/>
                </a:solidFill>
              </a:rPr>
              <a:t>
</a:t>
            </a:r>
            <a:r>
              <a:rPr lang="en-US" sz="1300" i="1" dirty="0">
                <a:solidFill>
                  <a:srgbClr val="7A7974"/>
                </a:solidFill>
              </a:rPr>
              <a:t>DocSnap solves this by building a full-stack AI system that auto-generates concise, accurate summaries from any document — deployed live via Flask API and Streamlit UI.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1E9E6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417320"/>
            <a:ext cx="2651760" cy="3200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287K+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Articles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0936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CNN/DailyMail training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CE5ED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1417320"/>
            <a:ext cx="2651760" cy="320040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EDA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429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EADC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429000"/>
            <a:ext cx="2651760" cy="320040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Models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4709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TextRank, BERT, T5-small, T5-base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3429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7EBDF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3429000"/>
            <a:ext cx="2651760" cy="32004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Stack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0" y="4709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Streamlit UI live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1 — SECTION 1.6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Four-Layer 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Preprocessing → Summarization Engine → Output</a:t>
            </a:r>
            <a:endParaRPr lang="en-US" sz="1400" dirty="0"/>
          </a:p>
        </p:txBody>
      </p:sp>
      <p:pic>
        <p:nvPicPr>
          <p:cNvPr id="5" name="Image 0" descr="/home/user/workspace/DocSnap_Architecture_Diagram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11612880" cy="4526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1 — SECTION 1.5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large-scale corpora for training, evaluation and EDA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5ECE8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394960" cy="41148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DailyMail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287,113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articles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13,368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43230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articles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11,490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9443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articles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615 words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456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article 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 words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39684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summary length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67,659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4480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words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9262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1.72M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86000" y="4992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E8EE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4447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Research Papers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downloaded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4323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cs.CL + cs.AI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0" y="24323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2944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HuggingFace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3920" y="29443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source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456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only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34564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 this project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39684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Vocabulary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39684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analysis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480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03920" y="4480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comparison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9926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Freq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03920" y="499262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distribution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63550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 Datasets — abisee/cnn_dailymail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2 —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of NLP Summarization (1958–2026)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frequency-based methods to transformer fine-tuning</a:t>
            </a:r>
            <a:endParaRPr lang="en-US" sz="1400" dirty="0"/>
          </a:p>
        </p:txBody>
      </p:sp>
      <p:pic>
        <p:nvPicPr>
          <p:cNvPr id="5" name="Image 0" descr="/home/user/workspace/DocSnap_NLP_Timelin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475488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12344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12344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Luhn (1958)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4652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frequency-based summarization — foundation of statistical NLP.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19202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9202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 (2004)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46520" y="1965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ranking using cosine similarity — implemented as DocSnap baseline.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26060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26060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(2015)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4652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encoder-decoder attention — enabled seq2seq summarization.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32918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32918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(2017)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46520" y="3337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foundation for BERT, T5, BART.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39776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3977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(2019)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4652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transformers — used for extractive summarization (87.5% acc).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03520" y="46634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46634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&amp; T5 (2020)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446520" y="4709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Seq2Seq pre-training — BART ROUGE-1 baseline: 0.4416.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03520" y="534924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0" y="53492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DocSnap (2026)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46520" y="5394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fine-tuned — ROUGE-1: 0.4584, comparable to BART baseline (0.4416). Achieved with half the parameters.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2 — SECTION 2.2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Extractive vs. Abstractive Summarization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paradigms — and why abstractive wins by 67.9%</a:t>
            </a:r>
            <a:endParaRPr lang="en-US" sz="1400" dirty="0"/>
          </a:p>
        </p:txBody>
      </p:sp>
      <p:pic>
        <p:nvPicPr>
          <p:cNvPr id="5" name="Image 0" descr="/home/user/workspace/DocSnap_Extractive_vs_Abstra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116128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5623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8E7E3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5623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  |  ROUGE-1: 0.2730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5623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8DFE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5623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3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 |  ROUGE-1: 0.2412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5623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F4E6D5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5623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A7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  |  ROUGE-1: 0.3669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869680" y="5623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D9E5E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5623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✓  |  ROUGE-1: 0.4584 (on par with BART)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3 — RESEARCH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Design &amp;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quantitative research with empirical model evaluation</a:t>
            </a:r>
            <a:endParaRPr lang="en-US" sz="1400" dirty="0"/>
          </a:p>
        </p:txBody>
      </p:sp>
      <p:pic>
        <p:nvPicPr>
          <p:cNvPr id="5" name="Image 0" descr="/home/user/workspace/DocSnap_Methodology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64008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41732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463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41080" y="1463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empirical — model comparison using ROUGE metrics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0" y="2020824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06654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41080" y="20665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(CNN/DailyMail, ArXiv) + Secondary (published baselines)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49440" y="2624328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26700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41080" y="26700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Datasets API — programmatic download &amp; verification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3227832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3273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41080" y="32735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held-out test articles for ROUGE evaluation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49440" y="3831336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38770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41080" y="38770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(first 50 from test split — reproducible)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443484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41080" y="4480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3.10, PyTorch, HuggingFace Transformers 4.36+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49440" y="5038344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E8ED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86600" y="50840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41080" y="508406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— 3 epochs per model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3 — SECTION 3.3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&amp; Preprocessing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pipeline from raw text to tokenized inputs</a:t>
            </a:r>
            <a:endParaRPr lang="en-US" sz="1400" dirty="0"/>
          </a:p>
        </p:txBody>
      </p:sp>
      <p:pic>
        <p:nvPicPr>
          <p:cNvPr id="5" name="Image 0" descr="/home/user/workspace/DocSnap_Data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11612880" cy="4526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4 — SECTION 4.2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statistics, word frequency, NER distribution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67,659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Words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615 words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Article Length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135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 words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61120" y="2167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Summary Length</a:t>
            </a:r>
            <a:endParaRPr lang="en-US" sz="1100" dirty="0"/>
          </a:p>
        </p:txBody>
      </p:sp>
      <p:pic>
        <p:nvPicPr>
          <p:cNvPr id="17" name="Image 0" descr="/home/user/workspace/DocSnap_WordFreq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5852160" cy="3383280"/>
          </a:xfrm>
          <a:prstGeom prst="rect">
            <a:avLst/>
          </a:prstGeom>
        </p:spPr>
      </p:pic>
      <p:pic>
        <p:nvPicPr>
          <p:cNvPr id="18" name="Image 1" descr="/home/user/workspace/DocSnap_NER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743200"/>
            <a:ext cx="5577840" cy="33832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" y="617220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4a: Top 20 Word Frequency Comparison — CNN/DailyMail vs ArXiv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309360" y="617220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4b: NER Distribution — 11,622 entities across 500 articles (spaCy en_core_web_sm)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4 — SECTION 4.3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Models — Two Paradigms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and abstractive approaches compared head-to-head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4754880"/>
          </a:xfrm>
          <a:prstGeom prst="roundRect">
            <a:avLst>
              <a:gd name="adj" fmla="val 3934"/>
            </a:avLst>
          </a:prstGeom>
          <a:solidFill>
            <a:srgbClr val="EFEEEA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457200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TextRank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Graph-based sentence ranking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+ cosine similarity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training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comparator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67328"/>
            <a:ext cx="2788920" cy="2743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58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0.2730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0.0910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5171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4517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0.1776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1417320"/>
            <a:ext cx="2788920" cy="4754880"/>
          </a:xfrm>
          <a:prstGeom prst="roundRect">
            <a:avLst>
              <a:gd name="adj" fmla="val 3934"/>
            </a:avLst>
          </a:prstGeom>
          <a:solidFill>
            <a:srgbClr val="EFEBEF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417320"/>
            <a:ext cx="2788920" cy="457200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444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170078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1984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Bidirectional encoder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23957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87.5% classification acc.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Fine-tuned 3 epochs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loss: 0.2958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767328"/>
            <a:ext cx="2788920" cy="2743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858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0.2412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0.0583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45171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4517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0.1502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1417320"/>
            <a:ext cx="2788920" cy="4754880"/>
          </a:xfrm>
          <a:prstGeom prst="roundRect">
            <a:avLst>
              <a:gd name="adj" fmla="val 3934"/>
            </a:avLst>
          </a:prstGeom>
          <a:solidFill>
            <a:srgbClr val="F5EEE4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1417320"/>
            <a:ext cx="2788920" cy="457200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444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T5-small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170078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1984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60M parameters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23957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Seq2Seq generation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Loss: 2.2887 → 2.0576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epochs, T4 GPU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3767328"/>
            <a:ext cx="2788920" cy="2743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858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952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0.3669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0936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0.1485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09360" y="45171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89520" y="4517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0.2517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189720" y="1417320"/>
            <a:ext cx="2788920" cy="4754880"/>
          </a:xfrm>
          <a:prstGeom prst="roundRect">
            <a:avLst>
              <a:gd name="adj" fmla="val 3934"/>
            </a:avLst>
          </a:prstGeom>
          <a:solidFill>
            <a:srgbClr val="D5E2E0"/>
          </a:solidFill>
          <a:ln w="31750">
            <a:solidFill>
              <a:srgbClr val="0169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89720" y="1417320"/>
            <a:ext cx="278892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81160" y="1444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T5-base 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281160" y="170078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372600" y="1984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220M parameters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372600" y="23957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Beam search (4 beams)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372600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Loss: 1.7193 → 1.3320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37260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par with BART baseline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189720" y="3767328"/>
            <a:ext cx="2788920" cy="2743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81160" y="3858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56132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0.4584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28116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6132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0.2456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281160" y="45171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61320" y="4517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0.3352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281160" y="58338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4 — SECTION 4.3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convergence across 3 epochs — T5-base achieves fastest reduction</a:t>
            </a:r>
            <a:endParaRPr lang="en-US" sz="1400" dirty="0"/>
          </a:p>
        </p:txBody>
      </p:sp>
      <p:pic>
        <p:nvPicPr>
          <p:cNvPr id="5" name="Image 0" descr="/home/user/workspace/DocSnap_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68580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17320"/>
            <a:ext cx="950976" cy="685800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41732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66176" y="1417320"/>
            <a:ext cx="950976" cy="685800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66176" y="141732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217152" y="1417320"/>
            <a:ext cx="950976" cy="685800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17152" y="141732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168128" y="1417320"/>
            <a:ext cx="950976" cy="685800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68128" y="141732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1119104" y="1417320"/>
            <a:ext cx="950976" cy="685800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19104" y="141732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0" y="2167128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2167128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66176" y="2167128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2167128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0.5293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217152" y="2167128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17152" y="2167128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0.4563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168128" y="2167128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68128" y="2167128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0.2958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119104" y="2167128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19104" y="2167128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0" y="2916936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2916936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266176" y="2916936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66176" y="2916936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2.2887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217152" y="2916936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17152" y="2916936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2.1333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168128" y="2916936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68128" y="2916936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2.0576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1119104" y="2916936"/>
            <a:ext cx="95097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119104" y="2916936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15200" y="3666744"/>
            <a:ext cx="950976" cy="685800"/>
          </a:xfrm>
          <a:prstGeom prst="rect">
            <a:avLst/>
          </a:prstGeom>
          <a:solidFill>
            <a:srgbClr val="E0E9E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3666744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266176" y="3666744"/>
            <a:ext cx="950976" cy="685800"/>
          </a:xfrm>
          <a:prstGeom prst="rect">
            <a:avLst/>
          </a:prstGeom>
          <a:solidFill>
            <a:srgbClr val="E0E9E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66176" y="3666744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1.7193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217152" y="3666744"/>
            <a:ext cx="950976" cy="685800"/>
          </a:xfrm>
          <a:prstGeom prst="rect">
            <a:avLst/>
          </a:prstGeom>
          <a:solidFill>
            <a:srgbClr val="E0E9E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217152" y="3666744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1.4822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0168128" y="3666744"/>
            <a:ext cx="950976" cy="685800"/>
          </a:xfrm>
          <a:prstGeom prst="rect">
            <a:avLst/>
          </a:prstGeom>
          <a:solidFill>
            <a:srgbClr val="E0E9E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168128" y="3666744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1.3320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1119104" y="3666744"/>
            <a:ext cx="950976" cy="685800"/>
          </a:xfrm>
          <a:prstGeom prst="rect">
            <a:avLst/>
          </a:prstGeom>
          <a:solidFill>
            <a:srgbClr val="E0E9E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19104" y="3666744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31520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achieved 22.5% loss reduction — faster convergence than T5-small (10.1%) due to 220M vs 60M parameters and richer pre-training on C4 corpus.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4 — SECTION 4.4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ROUGE Evaluation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held-out CNN/DailyMail test articles — T5-base (0.4584) is comparable to BART baseline (0.4416)</a:t>
            </a:r>
            <a:endParaRPr lang="en-US" sz="1400" dirty="0"/>
          </a:p>
        </p:txBody>
      </p:sp>
      <p:pic>
        <p:nvPicPr>
          <p:cNvPr id="5" name="Image 0" descr="/home/user/workspace/DocSnap_ROUG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73152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37160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1E9E6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417320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0.4584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418320" y="1463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ROUGE-1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0" y="2212848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1E9E6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2258568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0.2456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418320" y="23042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ROUGE-2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3054096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1E9E6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3099816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0.3352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418320" y="31455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ROUGE-L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389534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CEBE7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0" y="3941064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0.4416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418320" y="39867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Baseline (Lewis 2020)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63840" y="473659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7EBDF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478231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~Parity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418320" y="48280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BART baseline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63840" y="55778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4EADC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0" y="5623560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67.9%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418320" y="5669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advantage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best extractive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4 — SECTION 4.4.4 &amp; CHAPTER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ROUGE evaluation confirms the alternative hypothesis H1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AD9D7"/>
          </a:solidFill>
          <a:ln w="19050">
            <a:solidFill>
              <a:srgbClr val="A135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5394960" cy="411480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— Null Hypothesis  ✗  REJECTED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T5-based abstractive summarization does NOT produce significantly higher ROUGE-1 scores compared to extractive methods.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DCE3D2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5394960" cy="41148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819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Alternative Hypothesis  ✓  ACCEPTED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029968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T5-based abstractive summarization DOES produce significantly higher ROUGE-1 scores compared to extractive methods.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63335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0.4584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4818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ROUGE-1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0690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63335"/>
          </a:solidFill>
          <a:ln w="19050">
            <a:solidFill>
              <a:srgbClr val="A13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0.2730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4818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Extractive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(TextRank)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63335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+67.9%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4818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TextRank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40690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63335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Comparable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235440" y="4818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BART 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(0.4584 vs 0.4416)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67.9% improvement in ROUGE-1 (T5-base 0.4584 vs TextRank 0.2730) on the 50-article evaluation set strongly supports H1 — abstractive summarization substantially outperforms extractive methods.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5 — FINDINGS &amp;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outcomes from the DocSnap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E6ECE9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731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AD3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Abstractive &gt; Extractive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achieves ROUGE-1 of 0.4584 vs best extractive (TextRank) at 0.2730 — a 67.9% advantage. Confirms abstractive generation produces more human-like summaries.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EAEDE3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00200"/>
            <a:ext cx="731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7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32320" y="1645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Comparable to Published Baseline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ROUGE-1 = 0.4584 is comparable to the Lewis et al. 2020 BART baseline of 0.4416 — notable given T5-base uses ~55% of BART's parameters (220M vs 400M) and was fine-tuned on only 500 articles vs the full dataset.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EEE9EE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731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C7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Scale Validates Training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389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287,113 CNN/DailyMail training pairs with 67,659 unique tokens and 1.72M total tokens provide statistically sufficient coverage for robust fine-tuning.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5EDE1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886200"/>
            <a:ext cx="731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D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Deployment Achieved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4389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API: 2.07s (Colab T4 GPU). Streamlit UI: 1.79s (Colab T4 GPU). HuggingFace Spaces live on CPU — warm inference ~8–15s. Quantization recommended for sub-2s CPU deployment.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4 — SECTION 4.5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Deployment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measured on Google Colab T4 GPU — see training_details.md for CPU vs GPU breakdown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2.07s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(Colab T4 GPU)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1.79s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(Colab T4 GPU)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3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892MB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Model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2GB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6112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RAM Required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E8EEEA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557784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712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Model 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73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CNShivani7/DocSnap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6027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T5-base 892MB weights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Publicly accessible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EFEBEF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834640"/>
            <a:ext cx="5577840" cy="347472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8712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(Live UI)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273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web interface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6027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warm: ~8–15s; cold start: ~15–30s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931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and accessible globally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F5EEE4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572000"/>
            <a:ext cx="5577840" cy="347472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010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Colab notebooks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3400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training code, no fabrication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669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Widget metadata fixed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57200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ECEFE6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572000"/>
            <a:ext cx="5577840" cy="347472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5010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request/response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53400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2.07s processing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concurrent requests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32764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9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huggingface.co/spaces/CNShivani7/DocSnap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6 —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Organizational, technical, and research recommendations for DocSnap adoption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749040" cy="4754880"/>
          </a:xfrm>
          <a:prstGeom prst="roundRect">
            <a:avLst>
              <a:gd name="adj" fmla="val 2439"/>
            </a:avLst>
          </a:prstGeom>
          <a:solidFill>
            <a:srgbClr val="E8EEEA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3749040" cy="43891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T5-base via Flask REST API into document workflows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Sub-2s processing adds negligible overhead to pipelines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VPC/on-premises deployment for confidential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983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Domain-specific fine-tuning on 500–1,000 firm documents (2–4 GPU hours)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417320"/>
            <a:ext cx="3749040" cy="4754880"/>
          </a:xfrm>
          <a:prstGeom prst="roundRect">
            <a:avLst>
              <a:gd name="adj" fmla="val 2439"/>
            </a:avLst>
          </a:prstGeom>
          <a:solidFill>
            <a:srgbClr val="EFEBEF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417320"/>
            <a:ext cx="3749040" cy="438912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444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quantization to reduce 900MB model to ~300MB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971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authentication, rate limiting, and request logging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processing for concurrent user scalability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4983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 export for CPU-friendly inference 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749040" cy="4754880"/>
          </a:xfrm>
          <a:prstGeom prst="roundRect">
            <a:avLst>
              <a:gd name="adj" fmla="val 2439"/>
            </a:avLst>
          </a:prstGeom>
          <a:solidFill>
            <a:srgbClr val="F5EEE4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417320"/>
            <a:ext cx="3749040" cy="438912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444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Recommendations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evaluation with 10–20 annotators on fluency and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971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ROUGE evaluation to full 11,490 test articles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 hyperparameter optimization (may exceed PEGASUS 0.4744)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983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Cross-domain experiments: financial, legal, scientific documents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6 — LIMITATIONS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data, computational and deployment constraints — and how to address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F2EAE8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577840" cy="347472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50-article test set introduces sampling variability (±0.028 confidence)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414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ROUGE underestimates abstractive quality — semantic paraphrasing not captured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6265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True performance gap vs extractive is likely larger than 67.9% indicates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EFEBEF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577840" cy="347472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996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Domain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CNN/DailyMail bullet-point summaries may not suit professional narrative contexts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4414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English-only — no multilingual capability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96265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ArXiv used for EDA only — scientific domain performance unvalidated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F5EEE4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40480"/>
            <a:ext cx="5577840" cy="347472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77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3-epoch limit (Colab free tier) — longer training likely yields higher ROUGE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1888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512-token input ceiling truncates articles longer than ~380–400 words during inference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34009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systematic hyperparameter optimization conducted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EFEEEA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840480"/>
            <a:ext cx="5577840" cy="347472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877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Limitations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2976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220M params require 900MB storage, 2GB GPU RAM — CPU-only is slow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81888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HuggingFace Spaces cold-start: 15–30s after inactivity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534009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authentication, rate limiting, or data governance controls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CHAPTER 5 —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DocSnap successfully demonstrates that transformer-based abstractive summarization can be implemented, fine-tuned, and deployed as a production-grade system within realistic computational constraints.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D5E2E0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03120"/>
            <a:ext cx="3749040" cy="384048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30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 Achieved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ROUGE-1 of 0.4584 is comparable to the published BART baseline (Lewis et al. 2020: 0.4416) — achieved with ~55% of BART's parameters and 0.17% of the training data, confirming DocSnap's competitiveness.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DEE5D5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103120"/>
            <a:ext cx="3749040" cy="38404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130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Value Delivered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6060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deployed application with 2.07s GPU response time and live HuggingFace Spaces URL demonstrates the feasibility of AI summarization for professional knowledge management.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E6DCEA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03120"/>
            <a:ext cx="3749040" cy="384048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130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integrates data science, NLP, and software engineering — spanning data collection, model training, evaluation, and deployment as a full-cycle MBA Data Science capstone.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4864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63335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623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 Accepted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6236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&gt; Extractive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54864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63335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5623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ROUGE-1 0.4584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389120" y="6236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BART baseline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54864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63335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5623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A71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Deployed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321040" y="6236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1696F"/>
                </a:solidFill>
              </a:rPr>
              <a:t>METHODOLOGY — CLARIFICATIONS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Methodology Notes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common evaluation questions on timeline, sample size, and deployment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E6ECE9"/>
          </a:solidFill>
          <a:ln w="19050">
            <a:solidFill>
              <a:srgbClr val="016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57784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5 Phases, Not 5 Weeks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notebooks represent sequential project phases (Data → EDA → Models → Evaluation → Deployment), completed across the full semester. Each phase spans multiple calendar weeks.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EEE9EE"/>
          </a:solidFill>
          <a:ln w="19050">
            <a:solidFill>
              <a:srgbClr val="7A39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63040"/>
            <a:ext cx="5577840" cy="347472"/>
          </a:xfrm>
          <a:prstGeom prst="rect">
            <a:avLst/>
          </a:prstGeom>
          <a:solidFill>
            <a:srgbClr val="7A39BB"/>
          </a:solidFill>
          <a:ln w="12700">
            <a:solidFill>
              <a:srgbClr val="7A39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996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fine-tuning articles split 80/20: 400 training + 100 validation. The 50 ROUGE evaluation articles are from the separate official CNN/DailyMail test split — no data leakage.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5EDE1"/>
          </a:solidFill>
          <a:ln w="19050">
            <a:solidFill>
              <a:srgbClr val="DA710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94760"/>
            <a:ext cx="5577840" cy="347472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313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Justification (50 Articles)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free tier limits sessions to ~90 mins. Full 11,490 article evaluation would take 6–7 hours. At n=50, CI is ±0.028 — T5-base leads TextRank by 0.1854 (~6.6× the margin), strongly supporting H1.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1E8E6"/>
          </a:solidFill>
          <a:ln w="19050">
            <a:solidFill>
              <a:srgbClr val="A135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794760"/>
            <a:ext cx="5577840" cy="347472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8313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CPU Latency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25196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2.07s (Flask) and 1.79s (Streamlit) measured on Colab T4 GPU. HuggingFace Spaces (free CPU tier): warm inference ~8–15s, cold start ~15–30s. Quantization (INT8) would achieve sub-2s on CPU.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6336792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details: </a:t>
            </a:r>
            <a:r>
              <a:rPr lang="en-US" sz="9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github.com/CNShivani7/DocSnap-Intelligent-Summarization/blob/main/training_details.md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743200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Chimalamarry Naga Shivani Sharma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(Data Science) — Semester IV  |  Amity University Online  |  Enrollment: A9920124015210(el)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Kunwar Saurabh Bisen  |  Keystone Advisory Group, Chennai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C8DBD9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5661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C8DBD9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(Spaces)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C8DBD9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35661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C8DBD9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Vaswani et al. (2017) — Attention is All You Need. NeurIPS.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5129784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Devlin et al. (2019) — BERT: Pre-training of Deep Bidirectional Transformers. NAACL.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5458968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Raffel et al. (2020) — T5: Exploring the Limits of Transfer Learning. JMLR.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5788152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Lewis et al. (2020) — BART: Denoising Sequence-to-Sequence Pre-training. ACL.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117336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Hermann et al. (2015) — Teaching Machines to Read and Comprehend. NeurIPS. [CNN/DailyMail]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2189</Words>
  <Application>Microsoft Office PowerPoint</Application>
  <PresentationFormat>Widescreen</PresentationFormat>
  <Paragraphs>395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naga sharma</cp:lastModifiedBy>
  <cp:revision>4</cp:revision>
  <dcterms:created xsi:type="dcterms:W3CDTF">2026-04-10T08:21:46Z</dcterms:created>
  <dcterms:modified xsi:type="dcterms:W3CDTF">2026-05-01T14:37:55Z</dcterms:modified>
</cp:coreProperties>
</file>