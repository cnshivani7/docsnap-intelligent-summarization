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huggingface.co/datasets/abisee/cnn_dailymail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huggingface.co/spaces/CNShivani7/DocSna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CNShivani7/DocSnap-Intelligent-Summarization/blob/main/training_details.m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hyperlink" Target="https://huggingface.co/CNShivani7/DocSnap" TargetMode="External"/><Relationship Id="rId2" Type="http://schemas.openxmlformats.org/officeDocument/2006/relationships/hyperlink" Target="https://huggingface.co/spaces/CNShivani7/DocSnap" TargetMode="External"/><Relationship Id="rId3" Type="http://schemas.openxmlformats.org/officeDocument/2006/relationships/hyperlink" Target="https://github.com/CNShivani7/DocSnap-Intelligent-Summarization" TargetMode="External"/><Relationship Id="rId4" Type="http://schemas.openxmlformats.org/officeDocument/2006/relationships/hyperlink" Target="https://huggingface.co/datasets/abisee/cnn_dailymail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20040"/>
            <a:ext cx="10972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MBA (DATA SCIENCE) — MAJOR PROJECT  |  AMITY UNIVERSITY ONLINE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11430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DocSnap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365760" y="182880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Summarization for Fast Decision Making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65760" y="2514600"/>
            <a:ext cx="3657600" cy="2743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6517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DB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document summarization system using T5-base transformer fine-tuned on CNN/DailyMail.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3383280"/>
            <a:ext cx="2743200" cy="1234440"/>
          </a:xfrm>
          <a:prstGeom prst="roundRect">
            <a:avLst>
              <a:gd name="adj" fmla="val 7407"/>
            </a:avLst>
          </a:prstGeom>
          <a:solidFill>
            <a:srgbClr val="163335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5204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ROUGE-1: 0.4584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57200" y="413308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Score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91840" y="3383280"/>
            <a:ext cx="2743200" cy="1234440"/>
          </a:xfrm>
          <a:prstGeom prst="roundRect">
            <a:avLst>
              <a:gd name="adj" fmla="val 7407"/>
            </a:avLst>
          </a:prstGeom>
          <a:solidFill>
            <a:srgbClr val="163335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83280" y="35204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67.9%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3383280" y="413308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Abstractive Advantage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3383280"/>
            <a:ext cx="2743200" cy="1234440"/>
          </a:xfrm>
          <a:prstGeom prst="roundRect">
            <a:avLst>
              <a:gd name="adj" fmla="val 7407"/>
            </a:avLst>
          </a:prstGeom>
          <a:solidFill>
            <a:srgbClr val="163335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0" y="35204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~2s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6309360" y="413308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Response Time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144000" y="3383280"/>
            <a:ext cx="2743200" cy="1234440"/>
          </a:xfrm>
          <a:prstGeom prst="roundRect">
            <a:avLst>
              <a:gd name="adj" fmla="val 7407"/>
            </a:avLst>
          </a:prstGeom>
          <a:solidFill>
            <a:srgbClr val="163335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35440" y="35204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287K+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9235440" y="413308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Articles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630936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Chimalamarry Naga Shivani Sharma  |  A9920124015210(el)  |  Mentor: Kunwar Saurabh Bisen  | 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OVERVIEW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Presentation Outline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chapters covering the full DocSnap research journey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508760"/>
            <a:ext cx="5486400" cy="1143000"/>
          </a:xfrm>
          <a:prstGeom prst="roundRect">
            <a:avLst>
              <a:gd name="adj" fmla="val 6400"/>
            </a:avLst>
          </a:prstGeom>
          <a:solidFill>
            <a:srgbClr val="DEE8E5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600200"/>
            <a:ext cx="685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188720" y="1600200"/>
            <a:ext cx="4480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Problem Statement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26480" y="1508760"/>
            <a:ext cx="5486400" cy="1143000"/>
          </a:xfrm>
          <a:prstGeom prst="roundRect">
            <a:avLst>
              <a:gd name="adj" fmla="val 6400"/>
            </a:avLst>
          </a:prstGeom>
          <a:solidFill>
            <a:srgbClr val="EBE3ED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63640" y="1600200"/>
            <a:ext cx="685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949440" y="1600200"/>
            <a:ext cx="4480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of Literature &amp; NLP Evolution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2926080"/>
            <a:ext cx="5486400" cy="1143000"/>
          </a:xfrm>
          <a:prstGeom prst="roundRect">
            <a:avLst>
              <a:gd name="adj" fmla="val 6400"/>
            </a:avLst>
          </a:prstGeom>
          <a:solidFill>
            <a:srgbClr val="F4E9DA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3017520"/>
            <a:ext cx="685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188720" y="3017520"/>
            <a:ext cx="4480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Methodology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26480" y="2926080"/>
            <a:ext cx="5486400" cy="1143000"/>
          </a:xfrm>
          <a:prstGeom prst="roundRect">
            <a:avLst>
              <a:gd name="adj" fmla="val 6400"/>
            </a:avLst>
          </a:prstGeom>
          <a:solidFill>
            <a:srgbClr val="EEE3E1"/>
          </a:solidFill>
          <a:ln w="12700">
            <a:solidFill>
              <a:srgbClr val="A135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63640" y="3017520"/>
            <a:ext cx="685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135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949440" y="3017520"/>
            <a:ext cx="4480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 &amp; Model Results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5760" y="4343400"/>
            <a:ext cx="5486400" cy="1143000"/>
          </a:xfrm>
          <a:prstGeom prst="roundRect">
            <a:avLst>
              <a:gd name="adj" fmla="val 6400"/>
            </a:avLst>
          </a:prstGeom>
          <a:solidFill>
            <a:srgbClr val="E5EADD"/>
          </a:solidFill>
          <a:ln w="12700">
            <a:solidFill>
              <a:srgbClr val="437A2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4434840"/>
            <a:ext cx="685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37A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1188720" y="4434840"/>
            <a:ext cx="4480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&amp; Conclusion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126480" y="4343400"/>
            <a:ext cx="5486400" cy="1143000"/>
          </a:xfrm>
          <a:prstGeom prst="roundRect">
            <a:avLst>
              <a:gd name="adj" fmla="val 6400"/>
            </a:avLst>
          </a:prstGeom>
          <a:solidFill>
            <a:srgbClr val="E2EAE8"/>
          </a:solidFill>
          <a:ln w="12700">
            <a:solidFill>
              <a:srgbClr val="20808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63640" y="4434840"/>
            <a:ext cx="685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80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6949440" y="4434840"/>
            <a:ext cx="4480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 &amp; Limitations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108960" y="5806440"/>
            <a:ext cx="5943600" cy="685800"/>
          </a:xfrm>
          <a:prstGeom prst="roundRect">
            <a:avLst>
              <a:gd name="adj" fmla="val 10667"/>
            </a:avLst>
          </a:prstGeom>
          <a:solidFill>
            <a:srgbClr val="DEE8E5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46120" y="5833872"/>
            <a:ext cx="594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07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3840480" y="5833872"/>
            <a:ext cx="50292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&amp; Live Demo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1 — INTRODUCTION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Information Overload Challenge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document summarization matters in 2026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54864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8251D"/>
                </a:solidFill>
              </a:rPr>
              <a:t>Professionals today face:</a:t>
            </a:r>
            <a:endParaRPr lang="en-US" sz="15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</a:rPr>
              <a:t>• Exponential growth in unstructured textual data
</a:t>
            </a:r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</a:rPr>
              <a:t>• Manual reading bottlenecks in decision pipelines
</a:t>
            </a:r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</a:rPr>
              <a:t>• Existing tools lack domain flexibility
</a:t>
            </a:r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</a:rPr>
              <a:t>• Gap between NLP research and production deployment
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300" i="1" dirty="0">
                <a:solidFill>
                  <a:srgbClr val="7A7974"/>
                </a:solidFill>
              </a:rPr>
              <a:t>DocSnap solves this by building a full-stack AI system that auto-generates concise, accurate summaries from any document — deployed live via Flask API and Streamlit UI.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217920" y="141732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E1E9E6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17920" y="1417320"/>
            <a:ext cx="2651760" cy="32004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09360" y="182880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287K+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Articles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309360" y="269748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CNN/DailyMail training data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052560" y="141732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ECE5ED"/>
          </a:solidFill>
          <a:ln w="19050">
            <a:solidFill>
              <a:srgbClr val="7A39B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052560" y="1417320"/>
            <a:ext cx="2651760" cy="320040"/>
          </a:xfrm>
          <a:prstGeom prst="rect">
            <a:avLst/>
          </a:prstGeom>
          <a:solidFill>
            <a:srgbClr val="7A39BB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0" y="182880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2,000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Papers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9144000" y="269748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EDA dataset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17920" y="342900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4EADC"/>
          </a:solidFill>
          <a:ln w="19050">
            <a:solidFill>
              <a:srgbClr val="DA710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17920" y="3429000"/>
            <a:ext cx="2651760" cy="320040"/>
          </a:xfrm>
          <a:prstGeom prst="rect">
            <a:avLst/>
          </a:prstGeom>
          <a:solidFill>
            <a:srgbClr val="DA7101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09360" y="384048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Models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Tested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309360" y="47091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TextRank, BERT, T5-small, T5-base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9052560" y="342900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E7EBDF"/>
          </a:solidFill>
          <a:ln w="19050">
            <a:solidFill>
              <a:srgbClr val="437A2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52560" y="3429000"/>
            <a:ext cx="2651760" cy="320040"/>
          </a:xfrm>
          <a:prstGeom prst="rect">
            <a:avLst/>
          </a:prstGeom>
          <a:solidFill>
            <a:srgbClr val="437A22"/>
          </a:solidFill>
          <a:ln w="12700">
            <a:solidFill>
              <a:srgbClr val="437A2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0" y="384048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37A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 Stack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437A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Deployed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144000" y="47091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API + Streamlit UI live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1 — SECTION 1.6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Four-Layer System Architecture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→ Preprocessing → Summarization Engine → Output</a:t>
            </a:r>
            <a:endParaRPr lang="en-US" sz="1400" dirty="0"/>
          </a:p>
        </p:txBody>
      </p:sp>
      <p:pic>
        <p:nvPicPr>
          <p:cNvPr id="5" name="Image 0" descr="/home/user/workspace/DocSnap_Architecture_Diagram_H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417320"/>
            <a:ext cx="1161288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1 — SECTION 1.5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Datasets Used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large-scale corpora for training, evaluation and EDA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5394960" cy="4572000"/>
          </a:xfrm>
          <a:prstGeom prst="roundRect">
            <a:avLst>
              <a:gd name="adj" fmla="val 2400"/>
            </a:avLst>
          </a:prstGeom>
          <a:solidFill>
            <a:srgbClr val="E5ECE8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417320"/>
            <a:ext cx="5394960" cy="41148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44475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/ DailyMail Dataset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92024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287,113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286000" y="192024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articles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2432304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13,368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286000" y="2432304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articles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2944368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11,490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286000" y="294436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articles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3456432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615 words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286000" y="3456432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article length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3968496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44 words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286000" y="396849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summary length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448056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67,659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286000" y="448056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unique words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4992624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1.72M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286000" y="4992624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tokens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0" y="1417320"/>
            <a:ext cx="5394960" cy="4572000"/>
          </a:xfrm>
          <a:prstGeom prst="roundRect">
            <a:avLst>
              <a:gd name="adj" fmla="val 2400"/>
            </a:avLst>
          </a:prstGeom>
          <a:solidFill>
            <a:srgbClr val="EEE8EE"/>
          </a:solidFill>
          <a:ln w="19050">
            <a:solidFill>
              <a:srgbClr val="7A39B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0" y="1417320"/>
            <a:ext cx="5394960" cy="411480"/>
          </a:xfrm>
          <a:prstGeom prst="rect">
            <a:avLst/>
          </a:prstGeom>
          <a:solidFill>
            <a:srgbClr val="7A39BB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37960" y="144475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Research Papers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583680" y="192024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2,000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503920" y="192024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Papers downloaded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583680" y="2432304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cs.CL + cs.AI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503920" y="2432304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Sub-categories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583680" y="2944368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HuggingFace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503920" y="2944368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source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583680" y="3456432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EDA only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503920" y="345643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in this project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583680" y="3968496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Vocabulary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503920" y="3968496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Cross-domain analysis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583680" y="448056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8503920" y="448056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comparison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583680" y="4992624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Freq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8503920" y="4992624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distribution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65760" y="6355080"/>
            <a:ext cx="1143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pPr indent="0" marL="0">
              <a:buNone/>
            </a:pPr>
            <a:r>
              <a:rPr lang="en-US" sz="900" u="sng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HuggingFace Datasets — abisee/cnn_dailymail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2 — LITERATURE REVIEW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Evolution of NLP Summarization (1958–2026)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frequency-based methods to transformer fine-tuning</a:t>
            </a:r>
            <a:endParaRPr lang="en-US" sz="1400" dirty="0"/>
          </a:p>
        </p:txBody>
      </p:sp>
      <p:pic>
        <p:nvPicPr>
          <p:cNvPr id="5" name="Image 0" descr="/home/user/workspace/DocSnap_NLP_Timeline_H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34440"/>
            <a:ext cx="4754880" cy="49377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03520" y="1234440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7A7974"/>
          </a:solidFill>
          <a:ln w="12700">
            <a:solidFill>
              <a:srgbClr val="7A797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303520" y="1234440"/>
            <a:ext cx="1005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Luhn (1958)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6446520" y="128016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frequency-based summarization — foundation of statistical NLP.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303520" y="1920240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303520" y="1920240"/>
            <a:ext cx="1005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TextRank (2004)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6446520" y="196596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Graph-based ranking using cosine similarity — implemented as DocSnap baseline.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303520" y="2606040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437A22"/>
          </a:solidFill>
          <a:ln w="12700">
            <a:solidFill>
              <a:srgbClr val="437A2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303520" y="2606040"/>
            <a:ext cx="1005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(2015)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6446520" y="265176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Bahdanau encoder-decoder attention — enabled seq2seq summarization.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303520" y="3291840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DA7101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303520" y="3291840"/>
            <a:ext cx="1005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(2017)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446520" y="333756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"Attention Is All You Need" — foundation for BERT, T5, BART.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303520" y="3977640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7A39BB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303520" y="3977640"/>
            <a:ext cx="1005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(2019)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6446520" y="402336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 transformers — used for extractive summarization (87.5% acc).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303520" y="4663440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A13544"/>
          </a:solidFill>
          <a:ln w="12700">
            <a:solidFill>
              <a:srgbClr val="A1354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303520" y="4663440"/>
            <a:ext cx="1005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BART &amp; T5 (2020)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6446520" y="470916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 et al. Seq2Seq pre-training — BART ROUGE-1 baseline: 0.4416.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303520" y="5349240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303520" y="5349240"/>
            <a:ext cx="1005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DocSnap (2026)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6446520" y="539496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fine-tuned — ROUGE-1: 0.4584, comparable to BART baseline (0.4416). Achieved with half the parameters.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2 — SECTION 2.2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Extractive vs. Abstractive Summarization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paradigms — and why abstractive wins by 67.9%</a:t>
            </a:r>
            <a:endParaRPr lang="en-US" sz="1400" dirty="0"/>
          </a:p>
        </p:txBody>
      </p:sp>
      <p:pic>
        <p:nvPicPr>
          <p:cNvPr id="5" name="Image 0" descr="/home/user/workspace/DocSnap_Extractive_vs_Abstract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417320"/>
            <a:ext cx="11612880" cy="4069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5623560"/>
            <a:ext cx="2651760" cy="548640"/>
          </a:xfrm>
          <a:prstGeom prst="roundRect">
            <a:avLst>
              <a:gd name="adj" fmla="val 11667"/>
            </a:avLst>
          </a:prstGeom>
          <a:solidFill>
            <a:srgbClr val="E8E7E3"/>
          </a:solidFill>
          <a:ln w="12700">
            <a:solidFill>
              <a:srgbClr val="7A797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65760" y="562356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TextRank  |  ROUGE-1: 0.2730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200400" y="5623560"/>
            <a:ext cx="2651760" cy="548640"/>
          </a:xfrm>
          <a:prstGeom prst="roundRect">
            <a:avLst>
              <a:gd name="adj" fmla="val 11667"/>
            </a:avLst>
          </a:prstGeom>
          <a:solidFill>
            <a:srgbClr val="E8DFEB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0400" y="562356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3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 |  ROUGE-1: 0.2412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035040" y="5623560"/>
            <a:ext cx="2651760" cy="548640"/>
          </a:xfrm>
          <a:prstGeom prst="roundRect">
            <a:avLst>
              <a:gd name="adj" fmla="val 11667"/>
            </a:avLst>
          </a:prstGeom>
          <a:solidFill>
            <a:srgbClr val="F4E6D5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35040" y="562356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A71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T5-small  |  ROUGE-1: 0.3669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869680" y="5623560"/>
            <a:ext cx="2651760" cy="548640"/>
          </a:xfrm>
          <a:prstGeom prst="roundRect">
            <a:avLst>
              <a:gd name="adj" fmla="val 11667"/>
            </a:avLst>
          </a:prstGeom>
          <a:solidFill>
            <a:srgbClr val="D9E5E2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69680" y="562356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✓  |  ROUGE-1: 0.4584 (on par with BART)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3 — RESEARCH METHODOLOGY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Research Design &amp; Methodology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quantitative research with empirical model evaluation</a:t>
            </a:r>
            <a:endParaRPr lang="en-US" sz="1400" dirty="0"/>
          </a:p>
        </p:txBody>
      </p:sp>
      <p:pic>
        <p:nvPicPr>
          <p:cNvPr id="5" name="Image 0" descr="/home/user/workspace/DocSnap_Methodology_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0160"/>
            <a:ext cx="6400800" cy="4389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949440" y="1417320"/>
            <a:ext cx="4937760" cy="502920"/>
          </a:xfrm>
          <a:prstGeom prst="roundRect">
            <a:avLst>
              <a:gd name="adj" fmla="val 12727"/>
            </a:avLst>
          </a:prstGeom>
          <a:solidFill>
            <a:srgbClr val="E8EDEA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086600" y="146304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Design: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8641080" y="146304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empirical — model comparison using ROUGE metrics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949440" y="2020824"/>
            <a:ext cx="4937760" cy="502920"/>
          </a:xfrm>
          <a:prstGeom prst="roundRect">
            <a:avLst>
              <a:gd name="adj" fmla="val 12727"/>
            </a:avLst>
          </a:prstGeom>
          <a:solidFill>
            <a:srgbClr val="E8EDEA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086600" y="2066544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Type: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641080" y="2066544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(CNN/DailyMail, ArXiv) + Secondary (published baselines)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949440" y="2624328"/>
            <a:ext cx="4937760" cy="502920"/>
          </a:xfrm>
          <a:prstGeom prst="roundRect">
            <a:avLst>
              <a:gd name="adj" fmla="val 12727"/>
            </a:avLst>
          </a:prstGeom>
          <a:solidFill>
            <a:srgbClr val="E8EDEA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086600" y="267004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Collection: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641080" y="2670048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 Datasets API — programmatic download &amp; verification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949440" y="3227832"/>
            <a:ext cx="4937760" cy="502920"/>
          </a:xfrm>
          <a:prstGeom prst="roundRect">
            <a:avLst>
              <a:gd name="adj" fmla="val 12727"/>
            </a:avLst>
          </a:prstGeom>
          <a:solidFill>
            <a:srgbClr val="E8EDEA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086600" y="3273552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Size: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8641080" y="327355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held-out test articles for ROUGE evaluation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949440" y="3831336"/>
            <a:ext cx="4937760" cy="502920"/>
          </a:xfrm>
          <a:prstGeom prst="roundRect">
            <a:avLst>
              <a:gd name="adj" fmla="val 12727"/>
            </a:avLst>
          </a:prstGeom>
          <a:solidFill>
            <a:srgbClr val="E8EDEA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086600" y="3877056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Sampling: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641080" y="3877056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 (first 50 from test split — reproducible)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949440" y="4434840"/>
            <a:ext cx="4937760" cy="502920"/>
          </a:xfrm>
          <a:prstGeom prst="roundRect">
            <a:avLst>
              <a:gd name="adj" fmla="val 12727"/>
            </a:avLst>
          </a:prstGeom>
          <a:solidFill>
            <a:srgbClr val="E8EDEA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086600" y="448056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8641080" y="448056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3.10, PyTorch, HuggingFace Transformers 4.36+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949440" y="5038344"/>
            <a:ext cx="4937760" cy="502920"/>
          </a:xfrm>
          <a:prstGeom prst="roundRect">
            <a:avLst>
              <a:gd name="adj" fmla="val 12727"/>
            </a:avLst>
          </a:prstGeom>
          <a:solidFill>
            <a:srgbClr val="E8EDEA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086600" y="5084064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Hardware: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8641080" y="5084064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Colab T4 GPU — 3 epochs per model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3 — SECTION 3.3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Collection &amp; Preprocessing Pipeline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Five-stage pipeline from raw text to tokenized inputs</a:t>
            </a:r>
            <a:endParaRPr lang="en-US" sz="1400" dirty="0"/>
          </a:p>
        </p:txBody>
      </p:sp>
      <p:pic>
        <p:nvPicPr>
          <p:cNvPr id="5" name="Image 0" descr="/home/user/workspace/DocSnap_Data_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417320"/>
            <a:ext cx="1161288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4 — SECTION 4.2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Exploratory Data Analysis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statistics, word frequency, NER distribution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26517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5448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67,659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57200" y="21671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Words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0" y="1417320"/>
            <a:ext cx="26517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A39B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1840" y="155448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1.72M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3291840" y="21671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Tokens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35040" y="1417320"/>
            <a:ext cx="26517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A710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0" y="155448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615 words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6126480" y="21671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Article Length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869680" y="1417320"/>
            <a:ext cx="26517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135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61120" y="155448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A135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44 words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8961120" y="21671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Summary Length</a:t>
            </a:r>
            <a:endParaRPr lang="en-US" sz="1100" dirty="0"/>
          </a:p>
        </p:txBody>
      </p:sp>
      <p:pic>
        <p:nvPicPr>
          <p:cNvPr id="17" name="Image 0" descr="/home/user/workspace/DocSnap_WordFreq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0"/>
            <a:ext cx="5852160" cy="3383280"/>
          </a:xfrm>
          <a:prstGeom prst="rect">
            <a:avLst/>
          </a:prstGeom>
        </p:spPr>
      </p:pic>
      <p:pic>
        <p:nvPicPr>
          <p:cNvPr id="18" name="Image 1" descr="/home/user/workspace/DocSnap_NER_Distribu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743200"/>
            <a:ext cx="5577840" cy="33832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274320" y="6172200"/>
            <a:ext cx="5852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4a: Top 20 Word Frequency Comparison — CNN/DailyMail vs ArXiv</a:t>
            </a:r>
            <a:endParaRPr lang="en-US" sz="800" dirty="0"/>
          </a:p>
        </p:txBody>
      </p:sp>
      <p:sp>
        <p:nvSpPr>
          <p:cNvPr id="20" name="Text 16"/>
          <p:cNvSpPr/>
          <p:nvPr/>
        </p:nvSpPr>
        <p:spPr>
          <a:xfrm>
            <a:off x="6309360" y="6172200"/>
            <a:ext cx="5577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4b: NER Distribution — 11,622 entities across 500 articles (spaCy en_core_web_sm)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4 — SECTION 4.3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Four Models — Two Paradigms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Extractive and abstractive approaches compared head-to-head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1417320"/>
            <a:ext cx="2788920" cy="4754880"/>
          </a:xfrm>
          <a:prstGeom prst="roundRect">
            <a:avLst>
              <a:gd name="adj" fmla="val 3934"/>
            </a:avLst>
          </a:prstGeom>
          <a:solidFill>
            <a:srgbClr val="EFEEEA"/>
          </a:solidFill>
          <a:ln w="12700">
            <a:solidFill>
              <a:srgbClr val="7A797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417320"/>
            <a:ext cx="2788920" cy="457200"/>
          </a:xfrm>
          <a:prstGeom prst="rect">
            <a:avLst/>
          </a:prstGeom>
          <a:solidFill>
            <a:srgbClr val="7A7974"/>
          </a:solidFill>
          <a:ln w="12700">
            <a:solidFill>
              <a:srgbClr val="7A797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444752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TextRank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1700784"/>
            <a:ext cx="2606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Extractive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98424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Graph-based sentence ranking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39572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TF-IDF + cosine similarity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80720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training required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21868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Baseline comparator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3767328"/>
            <a:ext cx="2788920" cy="27432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385876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645920" y="385876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797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0.2730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65760" y="418795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645920" y="41879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797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0.0910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65760" y="451713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ROUGE-L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645920" y="451713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797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0.1776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246120" y="1417320"/>
            <a:ext cx="2788920" cy="4754880"/>
          </a:xfrm>
          <a:prstGeom prst="roundRect">
            <a:avLst>
              <a:gd name="adj" fmla="val 3934"/>
            </a:avLst>
          </a:prstGeom>
          <a:solidFill>
            <a:srgbClr val="EFEBEF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46120" y="1417320"/>
            <a:ext cx="2788920" cy="457200"/>
          </a:xfrm>
          <a:prstGeom prst="rect">
            <a:avLst/>
          </a:prstGeom>
          <a:solidFill>
            <a:srgbClr val="7A39BB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37560" y="1444752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BERT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337560" y="1700784"/>
            <a:ext cx="2606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Extractive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429000" y="198424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Bidirectional encoder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429000" y="239572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87.5% classification acc.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429000" y="280720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Fine-tuned 3 epochs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429000" y="321868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Final loss: 0.2958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246120" y="3767328"/>
            <a:ext cx="2788920" cy="27432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37560" y="385876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ROUGE-1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617720" y="385876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0.2412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337560" y="418795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ROUGE-2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617720" y="41879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0.0583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337560" y="451713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ROUGE-L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617720" y="451713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0.1502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217920" y="1417320"/>
            <a:ext cx="2788920" cy="4754880"/>
          </a:xfrm>
          <a:prstGeom prst="roundRect">
            <a:avLst>
              <a:gd name="adj" fmla="val 3934"/>
            </a:avLst>
          </a:prstGeom>
          <a:solidFill>
            <a:srgbClr val="F5EEE4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17920" y="1417320"/>
            <a:ext cx="2788920" cy="457200"/>
          </a:xfrm>
          <a:prstGeom prst="rect">
            <a:avLst/>
          </a:prstGeom>
          <a:solidFill>
            <a:srgbClr val="DA7101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09360" y="1444752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T5-small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309360" y="1700784"/>
            <a:ext cx="2606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Abstractive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00800" y="198424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60M parameters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400800" y="239572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Seq2Seq generation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400800" y="280720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Loss: 2.2887 → 2.0576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400800" y="321868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 epochs, T4 GPU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217920" y="3767328"/>
            <a:ext cx="2788920" cy="27432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09360" y="385876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ROUGE-1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589520" y="385876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0.3669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6309360" y="418795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ROUGE-2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7589520" y="41879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0.1485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6309360" y="451713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ROUGE-L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589520" y="451713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0.2517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9189720" y="1417320"/>
            <a:ext cx="2788920" cy="4754880"/>
          </a:xfrm>
          <a:prstGeom prst="roundRect">
            <a:avLst>
              <a:gd name="adj" fmla="val 3934"/>
            </a:avLst>
          </a:prstGeom>
          <a:solidFill>
            <a:srgbClr val="D5E2E0"/>
          </a:solidFill>
          <a:ln w="31750">
            <a:solidFill>
              <a:srgbClr val="01696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189720" y="1417320"/>
            <a:ext cx="2788920" cy="45720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281160" y="1444752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T5-base ✓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9281160" y="1700784"/>
            <a:ext cx="2606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Abstractive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9372600" y="198424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220M parameters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9372600" y="239572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Beam search (4 beams)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9372600" y="280720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Loss: 1.7193 → 1.3320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9372600" y="321868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On par with BART baseline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9189720" y="3767328"/>
            <a:ext cx="2788920" cy="27432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281160" y="385876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ROUGE-1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10561320" y="385876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0.4584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9281160" y="418795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ROUGE-2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561320" y="41879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0.2456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9281160" y="451713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ROUGE-L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10561320" y="451713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0.3352</a:t>
            </a:r>
            <a:endParaRPr lang="en-US" sz="1300" dirty="0"/>
          </a:p>
        </p:txBody>
      </p:sp>
      <p:sp>
        <p:nvSpPr>
          <p:cNvPr id="65" name="Text 63"/>
          <p:cNvSpPr/>
          <p:nvPr/>
        </p:nvSpPr>
        <p:spPr>
          <a:xfrm>
            <a:off x="9281160" y="5833872"/>
            <a:ext cx="2606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PERFORMER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4 — SECTION 4.3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Training Results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convergence across 3 epochs — T5-base achieves fastest reduction</a:t>
            </a:r>
            <a:endParaRPr lang="en-US" sz="1400" dirty="0"/>
          </a:p>
        </p:txBody>
      </p:sp>
      <p:pic>
        <p:nvPicPr>
          <p:cNvPr id="5" name="Image 0" descr="/home/user/workspace/DocSnap_Training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0160"/>
            <a:ext cx="6858000" cy="4480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15200" y="1417320"/>
            <a:ext cx="950976" cy="685800"/>
          </a:xfrm>
          <a:prstGeom prst="rect">
            <a:avLst/>
          </a:prstGeom>
          <a:solidFill>
            <a:srgbClr val="01696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0" y="1417320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8266176" y="1417320"/>
            <a:ext cx="950976" cy="685800"/>
          </a:xfrm>
          <a:prstGeom prst="rect">
            <a:avLst/>
          </a:prstGeom>
          <a:solidFill>
            <a:srgbClr val="01696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66176" y="1417320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 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9217152" y="1417320"/>
            <a:ext cx="950976" cy="685800"/>
          </a:xfrm>
          <a:prstGeom prst="rect">
            <a:avLst/>
          </a:prstGeom>
          <a:solidFill>
            <a:srgbClr val="01696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217152" y="1417320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 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0168128" y="1417320"/>
            <a:ext cx="950976" cy="685800"/>
          </a:xfrm>
          <a:prstGeom prst="rect">
            <a:avLst/>
          </a:prstGeom>
          <a:solidFill>
            <a:srgbClr val="01696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168128" y="1417320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 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1119104" y="1417320"/>
            <a:ext cx="950976" cy="685800"/>
          </a:xfrm>
          <a:prstGeom prst="rect">
            <a:avLst/>
          </a:prstGeom>
          <a:solidFill>
            <a:srgbClr val="01696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1119104" y="1417320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7315200" y="2167128"/>
            <a:ext cx="95097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315200" y="2167128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266176" y="2167128"/>
            <a:ext cx="95097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66176" y="2167128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0.5293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9217152" y="2167128"/>
            <a:ext cx="95097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17152" y="2167128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0.4563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10168128" y="2167128"/>
            <a:ext cx="95097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0168128" y="2167128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0.2958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11119104" y="2167128"/>
            <a:ext cx="95097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1119104" y="2167128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44.1%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7315200" y="2916936"/>
            <a:ext cx="95097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315200" y="2916936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T5-small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266176" y="2916936"/>
            <a:ext cx="95097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266176" y="2916936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2.2887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9217152" y="2916936"/>
            <a:ext cx="95097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217152" y="2916936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2.1333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0168128" y="2916936"/>
            <a:ext cx="95097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10168128" y="2916936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2.0576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11119104" y="2916936"/>
            <a:ext cx="95097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11119104" y="2916936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10.1%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7315200" y="3666744"/>
            <a:ext cx="950976" cy="685800"/>
          </a:xfrm>
          <a:prstGeom prst="rect">
            <a:avLst/>
          </a:prstGeom>
          <a:solidFill>
            <a:srgbClr val="E0E9E6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315200" y="3666744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8266176" y="3666744"/>
            <a:ext cx="950976" cy="685800"/>
          </a:xfrm>
          <a:prstGeom prst="rect">
            <a:avLst/>
          </a:prstGeom>
          <a:solidFill>
            <a:srgbClr val="E0E9E6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266176" y="3666744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1.7193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9217152" y="3666744"/>
            <a:ext cx="950976" cy="685800"/>
          </a:xfrm>
          <a:prstGeom prst="rect">
            <a:avLst/>
          </a:prstGeom>
          <a:solidFill>
            <a:srgbClr val="E0E9E6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9217152" y="3666744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1.4822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10168128" y="3666744"/>
            <a:ext cx="950976" cy="685800"/>
          </a:xfrm>
          <a:prstGeom prst="rect">
            <a:avLst/>
          </a:prstGeom>
          <a:solidFill>
            <a:srgbClr val="E0E9E6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10168128" y="3666744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1.3320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11119104" y="3666744"/>
            <a:ext cx="950976" cy="685800"/>
          </a:xfrm>
          <a:prstGeom prst="rect">
            <a:avLst/>
          </a:prstGeom>
          <a:solidFill>
            <a:srgbClr val="E0E9E6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11119104" y="3666744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22.5%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7315200" y="4480560"/>
            <a:ext cx="46634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achieved 22.5% loss reduction — faster convergence than T5-small (10.1%) due to 220M vs 60M parameters and richer pre-training on C4 corpus.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4 — SECTION 4.4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ROUGE Evaluation Results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held-out CNN/DailyMail test articles — T5-base (0.4584) is comparable to BART baseline (0.4416)</a:t>
            </a:r>
            <a:endParaRPr lang="en-US" sz="1400" dirty="0"/>
          </a:p>
        </p:txBody>
      </p:sp>
      <p:pic>
        <p:nvPicPr>
          <p:cNvPr id="5" name="Image 0" descr="/home/user/workspace/DocSnap_ROUGE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0160"/>
            <a:ext cx="7315200" cy="4297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63840" y="1371600"/>
            <a:ext cx="4114800" cy="713232"/>
          </a:xfrm>
          <a:prstGeom prst="roundRect">
            <a:avLst>
              <a:gd name="adj" fmla="val 8974"/>
            </a:avLst>
          </a:prstGeom>
          <a:solidFill>
            <a:srgbClr val="E1E9E6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001000" y="1417320"/>
            <a:ext cx="1280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0.4584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9418320" y="1463040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ROUGE-1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863840" y="2212848"/>
            <a:ext cx="4114800" cy="713232"/>
          </a:xfrm>
          <a:prstGeom prst="roundRect">
            <a:avLst>
              <a:gd name="adj" fmla="val 8974"/>
            </a:avLst>
          </a:prstGeom>
          <a:solidFill>
            <a:srgbClr val="E1E9E6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01000" y="2258568"/>
            <a:ext cx="1280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0.2456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9418320" y="2304288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ROUGE-2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863840" y="3054096"/>
            <a:ext cx="4114800" cy="713232"/>
          </a:xfrm>
          <a:prstGeom prst="roundRect">
            <a:avLst>
              <a:gd name="adj" fmla="val 8974"/>
            </a:avLst>
          </a:prstGeom>
          <a:solidFill>
            <a:srgbClr val="E1E9E6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001000" y="3099816"/>
            <a:ext cx="1280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0.3352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9418320" y="3145536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ROUGE-L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863840" y="3895344"/>
            <a:ext cx="4114800" cy="713232"/>
          </a:xfrm>
          <a:prstGeom prst="roundRect">
            <a:avLst>
              <a:gd name="adj" fmla="val 8974"/>
            </a:avLst>
          </a:prstGeom>
          <a:solidFill>
            <a:srgbClr val="ECEBE7"/>
          </a:solidFill>
          <a:ln w="12700">
            <a:solidFill>
              <a:srgbClr val="7A797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001000" y="3941064"/>
            <a:ext cx="1280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797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0.4416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9418320" y="3986784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BART Baseline (Lewis 2020)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863840" y="4736592"/>
            <a:ext cx="4114800" cy="713232"/>
          </a:xfrm>
          <a:prstGeom prst="roundRect">
            <a:avLst>
              <a:gd name="adj" fmla="val 8974"/>
            </a:avLst>
          </a:prstGeom>
          <a:solidFill>
            <a:srgbClr val="E7EBDF"/>
          </a:solidFill>
          <a:ln w="12700">
            <a:solidFill>
              <a:srgbClr val="437A22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001000" y="4782312"/>
            <a:ext cx="1280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37A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~Parity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9418320" y="482803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Comparable to BART baseline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863840" y="5577840"/>
            <a:ext cx="4114800" cy="713232"/>
          </a:xfrm>
          <a:prstGeom prst="roundRect">
            <a:avLst>
              <a:gd name="adj" fmla="val 8974"/>
            </a:avLst>
          </a:prstGeom>
          <a:solidFill>
            <a:srgbClr val="F4EADC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001000" y="5623560"/>
            <a:ext cx="1280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67.9%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9418320" y="5669280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Abstractive advantage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best extractive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2A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4 — SECTION 4.4.4 &amp; CHAPTER 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Hypothesis Testing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ROUGE evaluation confirms the alternative hypothesis H1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554480"/>
            <a:ext cx="5394960" cy="2286000"/>
          </a:xfrm>
          <a:prstGeom prst="roundRect">
            <a:avLst>
              <a:gd name="adj" fmla="val 4000"/>
            </a:avLst>
          </a:prstGeom>
          <a:solidFill>
            <a:srgbClr val="EAD9D7"/>
          </a:solidFill>
          <a:ln w="19050">
            <a:solidFill>
              <a:srgbClr val="A135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554480"/>
            <a:ext cx="5394960" cy="411480"/>
          </a:xfrm>
          <a:prstGeom prst="rect">
            <a:avLst/>
          </a:prstGeom>
          <a:solidFill>
            <a:srgbClr val="A13544"/>
          </a:solidFill>
          <a:ln w="12700">
            <a:solidFill>
              <a:srgbClr val="A135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8191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H0 — Null Hypothesis  ✗  REJECTED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2029968"/>
            <a:ext cx="51206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0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T5-based abstractive summarization does NOT produce significantly higher ROUGE-1 scores compared to extractive methods.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0" y="1554480"/>
            <a:ext cx="5394960" cy="2286000"/>
          </a:xfrm>
          <a:prstGeom prst="roundRect">
            <a:avLst>
              <a:gd name="adj" fmla="val 4000"/>
            </a:avLst>
          </a:prstGeom>
          <a:solidFill>
            <a:srgbClr val="DCE3D2"/>
          </a:solidFill>
          <a:ln w="19050">
            <a:solidFill>
              <a:srgbClr val="437A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5394960" cy="411480"/>
          </a:xfrm>
          <a:prstGeom prst="rect">
            <a:avLst/>
          </a:prstGeom>
          <a:solidFill>
            <a:srgbClr val="437A22"/>
          </a:solidFill>
          <a:ln w="12700">
            <a:solidFill>
              <a:srgbClr val="437A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158191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— Alternative Hypothesis  ✓  ACCEPTED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37960" y="2029968"/>
            <a:ext cx="51206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2D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T5-based abstractive summarization DOES produce significantly higher ROUGE-1 scores compared to extractive methods.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4069080"/>
            <a:ext cx="2743200" cy="1463040"/>
          </a:xfrm>
          <a:prstGeom prst="roundRect">
            <a:avLst>
              <a:gd name="adj" fmla="val 6250"/>
            </a:avLst>
          </a:prstGeom>
          <a:solidFill>
            <a:srgbClr val="163335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42062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0.4584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457200" y="481888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ROUGE-1
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91840" y="4069080"/>
            <a:ext cx="2743200" cy="1463040"/>
          </a:xfrm>
          <a:prstGeom prst="roundRect">
            <a:avLst>
              <a:gd name="adj" fmla="val 6250"/>
            </a:avLst>
          </a:prstGeom>
          <a:solidFill>
            <a:srgbClr val="163335"/>
          </a:solidFill>
          <a:ln w="19050">
            <a:solidFill>
              <a:srgbClr val="A1354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83280" y="42062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A135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0.2730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3383280" y="481888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Extractive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(TextRank)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4069080"/>
            <a:ext cx="2743200" cy="1463040"/>
          </a:xfrm>
          <a:prstGeom prst="roundRect">
            <a:avLst>
              <a:gd name="adj" fmla="val 6250"/>
            </a:avLst>
          </a:prstGeom>
          <a:solidFill>
            <a:srgbClr val="163335"/>
          </a:solidFill>
          <a:ln w="19050">
            <a:solidFill>
              <a:srgbClr val="437A2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09360" y="42062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37A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+67.9%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6309360" y="481888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Improvement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TextRank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144000" y="4069080"/>
            <a:ext cx="2743200" cy="1463040"/>
          </a:xfrm>
          <a:prstGeom prst="roundRect">
            <a:avLst>
              <a:gd name="adj" fmla="val 6250"/>
            </a:avLst>
          </a:prstGeom>
          <a:solidFill>
            <a:srgbClr val="163335"/>
          </a:solidFill>
          <a:ln w="19050">
            <a:solidFill>
              <a:srgbClr val="DA710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35440" y="42062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Comparable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9235440" y="481888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BART Baseline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(0.4584 vs 0.4416)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65760" y="576072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The 67.9% improvement in ROUGE-1 (T5-base 0.4584 vs TextRank 0.2730) on the 50-article evaluation set strongly supports H1 — abstractive summarization substantially outperforms extractive methods.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5 — FINDINGS &amp; CONCLUSION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Findings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major outcomes from the DocSnap research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5577840" cy="2011680"/>
          </a:xfrm>
          <a:prstGeom prst="roundRect">
            <a:avLst>
              <a:gd name="adj" fmla="val 4545"/>
            </a:avLst>
          </a:prstGeom>
          <a:solidFill>
            <a:srgbClr val="E6ECE9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00200"/>
            <a:ext cx="7315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AD3D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280160" y="164592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Abstractive &gt; Extractive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80160" y="2103120"/>
            <a:ext cx="4480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achieves ROUGE-1 of 0.4584 vs best extractive (TextRank) at 0.2730 — a 67.9% advantage. Confirms abstractive generation produces more human-like summaries.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463040"/>
            <a:ext cx="5577840" cy="2011680"/>
          </a:xfrm>
          <a:prstGeom prst="roundRect">
            <a:avLst>
              <a:gd name="adj" fmla="val 4545"/>
            </a:avLst>
          </a:prstGeom>
          <a:solidFill>
            <a:srgbClr val="EAEDE3"/>
          </a:solidFill>
          <a:ln w="19050">
            <a:solidFill>
              <a:srgbClr val="437A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0" y="1600200"/>
            <a:ext cx="7315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AD7B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132320" y="164592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37A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Comparable to Published Baseline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132320" y="2103120"/>
            <a:ext cx="4480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ROUGE-1 = 0.4584 is comparable to the Lewis et al. 2020 BART baseline of 0.4416 — notable given T5-base uses ~55% of BART's parameters (220M vs 400M) and was fine-tuned on only 500 articles vs the full dataset.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3749040"/>
            <a:ext cx="5577840" cy="2011680"/>
          </a:xfrm>
          <a:prstGeom prst="roundRect">
            <a:avLst>
              <a:gd name="adj" fmla="val 4545"/>
            </a:avLst>
          </a:prstGeom>
          <a:solidFill>
            <a:srgbClr val="EEE9EE"/>
          </a:solidFill>
          <a:ln w="19050">
            <a:solidFill>
              <a:srgbClr val="7A39B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886200"/>
            <a:ext cx="7315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8C7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1280160" y="393192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Dataset Scale Validates Training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80160" y="4389120"/>
            <a:ext cx="4480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287,113 CNN/DailyMail training pairs with 67,659 unique tokens and 1.72M total tokens provide statistically sufficient coverage for robust fine-tuning.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17920" y="3749040"/>
            <a:ext cx="5577840" cy="2011680"/>
          </a:xfrm>
          <a:prstGeom prst="roundRect">
            <a:avLst>
              <a:gd name="adj" fmla="val 4545"/>
            </a:avLst>
          </a:prstGeom>
          <a:solidFill>
            <a:srgbClr val="F5EDE1"/>
          </a:solidFill>
          <a:ln w="19050">
            <a:solidFill>
              <a:srgbClr val="DA710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3886200"/>
            <a:ext cx="7315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0D5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7132320" y="393192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Production Deployment Achieved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132320" y="4389120"/>
            <a:ext cx="4480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API: 2.07s (Colab T4 GPU). Streamlit UI: 1.79s (Colab T4 GPU). HuggingFace Spaces live on CPU — warm inference ~8–15s. Quantization recommended for sub-2s CPU deployment.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4 — SECTION 4.5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API &amp; Deployment Performance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measured on Google Colab T4 GPU — see training_details.md for CPU vs GPU breakdown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002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2.07s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57200" y="221284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API (Colab T4 GPU)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0" y="146304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9050">
            <a:solidFill>
              <a:srgbClr val="437A2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1840" y="16002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37A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1.79s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3291840" y="221284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UI (Colab T4 GPU)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35040" y="146304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9050">
            <a:solidFill>
              <a:srgbClr val="7A39B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0" y="16002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892MB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6126480" y="221284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Model Size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869680" y="146304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9050">
            <a:solidFill>
              <a:srgbClr val="DA710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61120" y="16002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2GB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8961120" y="221284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RAM Required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2834640"/>
            <a:ext cx="5577840" cy="1554480"/>
          </a:xfrm>
          <a:prstGeom prst="roundRect">
            <a:avLst>
              <a:gd name="adj" fmla="val 5882"/>
            </a:avLst>
          </a:prstGeom>
          <a:solidFill>
            <a:srgbClr val="E8EEEA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2834640"/>
            <a:ext cx="5577840" cy="34747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87121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 Model Hub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3273552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Model: CNShivani7/DocSnap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360273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T5-base 892MB weights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393192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Publicly accessible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217920" y="2834640"/>
            <a:ext cx="5577840" cy="1554480"/>
          </a:xfrm>
          <a:prstGeom prst="roundRect">
            <a:avLst>
              <a:gd name="adj" fmla="val 5882"/>
            </a:avLst>
          </a:prstGeom>
          <a:solidFill>
            <a:srgbClr val="EFEBEF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17920" y="2834640"/>
            <a:ext cx="5577840" cy="347472"/>
          </a:xfrm>
          <a:prstGeom prst="rect">
            <a:avLst/>
          </a:prstGeom>
          <a:solidFill>
            <a:srgbClr val="7A39BB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55080" y="287121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 Spaces (Live UI)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00800" y="3273552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Streamlit web interface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00800" y="360273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CPU warm: ~8–15s; cold start: ~15–30s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0" y="393192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Live and accessible globally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760" y="4572000"/>
            <a:ext cx="5577840" cy="1554480"/>
          </a:xfrm>
          <a:prstGeom prst="roundRect">
            <a:avLst>
              <a:gd name="adj" fmla="val 5882"/>
            </a:avLst>
          </a:prstGeom>
          <a:solidFill>
            <a:srgbClr val="F5EEE4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4572000"/>
            <a:ext cx="5577840" cy="347472"/>
          </a:xfrm>
          <a:prstGeom prst="rect">
            <a:avLst/>
          </a:prstGeom>
          <a:solidFill>
            <a:srgbClr val="DA7101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460857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48640" y="5010912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 Colab notebooks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48640" y="534009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Real training code, no fabrication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48640" y="566928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Widget metadata fixed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17920" y="4572000"/>
            <a:ext cx="5577840" cy="1554480"/>
          </a:xfrm>
          <a:prstGeom prst="roundRect">
            <a:avLst>
              <a:gd name="adj" fmla="val 5882"/>
            </a:avLst>
          </a:prstGeom>
          <a:solidFill>
            <a:srgbClr val="ECEFE6"/>
          </a:solidFill>
          <a:ln w="12700">
            <a:solidFill>
              <a:srgbClr val="437A2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17920" y="4572000"/>
            <a:ext cx="5577840" cy="347472"/>
          </a:xfrm>
          <a:prstGeom prst="rect">
            <a:avLst/>
          </a:prstGeom>
          <a:solidFill>
            <a:srgbClr val="437A22"/>
          </a:solidFill>
          <a:ln w="12700">
            <a:solidFill>
              <a:srgbClr val="437A2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55080" y="460857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REST API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400800" y="5010912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JSON request/response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400800" y="534009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2.07s processing time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400800" y="566928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Supports concurrent requests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65760" y="6327648"/>
            <a:ext cx="1143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</a:t>
            </a:r>
            <a:pPr indent="0" marL="0">
              <a:buNone/>
            </a:pPr>
            <a:r>
              <a:rPr lang="en-US" sz="900" u="sng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huggingface.co/spaces/CNShivani7/DocSnap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6 — RECOMMENDATIONS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Recommendations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Organizational, technical, and research recommendations for DocSnap adoption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1417320"/>
            <a:ext cx="3749040" cy="4754880"/>
          </a:xfrm>
          <a:prstGeom prst="roundRect">
            <a:avLst>
              <a:gd name="adj" fmla="val 2439"/>
            </a:avLst>
          </a:prstGeom>
          <a:solidFill>
            <a:srgbClr val="E8EEEA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417320"/>
            <a:ext cx="3749040" cy="43891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44475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Organizational Recommendations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96596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Integrate T5-base via Flask REST API into document workflows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97180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Sub-2s processing adds negligible overhead to pipelines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VPC/on-premises deployment for confidential documents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49834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Domain-specific fine-tuning on 500–1,000 firm documents (2–4 GPU hours)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06240" y="1417320"/>
            <a:ext cx="3749040" cy="4754880"/>
          </a:xfrm>
          <a:prstGeom prst="roundRect">
            <a:avLst>
              <a:gd name="adj" fmla="val 2439"/>
            </a:avLst>
          </a:prstGeom>
          <a:solidFill>
            <a:srgbClr val="EFEBEF"/>
          </a:solidFill>
          <a:ln w="19050">
            <a:solidFill>
              <a:srgbClr val="7A39B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06240" y="1417320"/>
            <a:ext cx="3749040" cy="438912"/>
          </a:xfrm>
          <a:prstGeom prst="rect">
            <a:avLst/>
          </a:prstGeom>
          <a:solidFill>
            <a:srgbClr val="7A39BB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43400" y="144475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Recommendations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89120" y="196596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Implement quantization to reduce 900MB model to ~300MB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389120" y="297180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Add authentication, rate limiting, and request logging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389120" y="397764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Batch processing for concurrent user scalability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89120" y="49834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ONNX export for CPU-friendly inference deployment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38160" y="1417320"/>
            <a:ext cx="3749040" cy="4754880"/>
          </a:xfrm>
          <a:prstGeom prst="roundRect">
            <a:avLst>
              <a:gd name="adj" fmla="val 2439"/>
            </a:avLst>
          </a:prstGeom>
          <a:solidFill>
            <a:srgbClr val="F5EEE4"/>
          </a:solidFill>
          <a:ln w="19050">
            <a:solidFill>
              <a:srgbClr val="DA710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38160" y="1417320"/>
            <a:ext cx="3749040" cy="438912"/>
          </a:xfrm>
          <a:prstGeom prst="rect">
            <a:avLst/>
          </a:prstGeom>
          <a:solidFill>
            <a:srgbClr val="DA7101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75320" y="144475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Recommendations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321040" y="196596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Human evaluation with 10–20 annotators on fluency and accuracy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321040" y="297180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Extend ROUGE evaluation to full 11,490 test articles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321040" y="397764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Systematic hyperparameter optimization (may exceed PEGASUS 0.4744)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321040" y="49834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Cross-domain experiments: financial, legal, scientific documents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6 — LIMITATIONS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Limitations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Evaluation, data, computational and deployment constraints — and how to address them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5577840" cy="2148840"/>
          </a:xfrm>
          <a:prstGeom prst="roundRect">
            <a:avLst>
              <a:gd name="adj" fmla="val 4255"/>
            </a:avLst>
          </a:prstGeom>
          <a:solidFill>
            <a:srgbClr val="F2EAE8"/>
          </a:solidFill>
          <a:ln w="12700">
            <a:solidFill>
              <a:srgbClr val="A135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463040"/>
            <a:ext cx="5577840" cy="347472"/>
          </a:xfrm>
          <a:prstGeom prst="rect">
            <a:avLst/>
          </a:prstGeom>
          <a:solidFill>
            <a:srgbClr val="A13544"/>
          </a:solidFill>
          <a:ln w="12700">
            <a:solidFill>
              <a:srgbClr val="A135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49961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Limitations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1920240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50-article test set introduces sampling variability (±0.028 confidence)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2441448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ROUGE underestimates abstractive quality — semantic paraphrasing not captured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2962656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True performance gap vs extractive is likely larger than 67.9% indicates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1463040"/>
            <a:ext cx="5577840" cy="2148840"/>
          </a:xfrm>
          <a:prstGeom prst="roundRect">
            <a:avLst>
              <a:gd name="adj" fmla="val 4255"/>
            </a:avLst>
          </a:prstGeom>
          <a:solidFill>
            <a:srgbClr val="EFEBEF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1463040"/>
            <a:ext cx="5577840" cy="347472"/>
          </a:xfrm>
          <a:prstGeom prst="rect">
            <a:avLst/>
          </a:prstGeom>
          <a:solidFill>
            <a:srgbClr val="7A39BB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149961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Domain Limitations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0" y="1920240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CNN/DailyMail bullet-point summaries may not suit professional narrative contexts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0" y="2441448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English-only — no multilingual capability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0" y="2962656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ArXiv used for EDA only — scientific domain performance unvalidated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3840480"/>
            <a:ext cx="5577840" cy="2148840"/>
          </a:xfrm>
          <a:prstGeom prst="roundRect">
            <a:avLst>
              <a:gd name="adj" fmla="val 4255"/>
            </a:avLst>
          </a:prstGeom>
          <a:solidFill>
            <a:srgbClr val="F5EEE4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3840480"/>
            <a:ext cx="5577840" cy="347472"/>
          </a:xfrm>
          <a:prstGeom prst="rect">
            <a:avLst/>
          </a:prstGeom>
          <a:solidFill>
            <a:srgbClr val="DA7101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87705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Computational Limitations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4297680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3-epoch limit (Colab free tier) — longer training likely yields higher ROUGE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" y="4818888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512-token input ceiling truncates articles longer than ~380–400 words during inference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5340096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systematic hyperparameter optimization conducted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17920" y="3840480"/>
            <a:ext cx="5577840" cy="2148840"/>
          </a:xfrm>
          <a:prstGeom prst="roundRect">
            <a:avLst>
              <a:gd name="adj" fmla="val 4255"/>
            </a:avLst>
          </a:prstGeom>
          <a:solidFill>
            <a:srgbClr val="EFEEEA"/>
          </a:solidFill>
          <a:ln w="12700">
            <a:solidFill>
              <a:srgbClr val="7A797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17920" y="3840480"/>
            <a:ext cx="5577840" cy="347472"/>
          </a:xfrm>
          <a:prstGeom prst="rect">
            <a:avLst/>
          </a:prstGeom>
          <a:solidFill>
            <a:srgbClr val="7A7974"/>
          </a:solidFill>
          <a:ln w="12700">
            <a:solidFill>
              <a:srgbClr val="7A797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55080" y="387705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Limitations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00800" y="4297680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220M params require 900MB storage, 2GB GPU RAM — CPU-only is slow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00800" y="4818888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HuggingFace Spaces cold-start: 15–30s after inactivity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0" y="5340096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authentication, rate limiting, or data governance controls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2A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5 — CONCLUSION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365760" y="118872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DocSnap successfully demonstrates that transformer-based abstractive summarization can be implemented, fine-tuned, and deployed as a production-grade system within realistic computational constraints.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2103120"/>
            <a:ext cx="3749040" cy="3200400"/>
          </a:xfrm>
          <a:prstGeom prst="roundRect">
            <a:avLst>
              <a:gd name="adj" fmla="val 2857"/>
            </a:avLst>
          </a:prstGeom>
          <a:solidFill>
            <a:srgbClr val="D5E2E0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2103120"/>
            <a:ext cx="3749040" cy="384048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213055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Goal Achieved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606040"/>
            <a:ext cx="3383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ROUGE-1 of 0.4584 is comparable to the published BART baseline (Lewis et al. 2020: 0.4416) — achieved with ~55% of BART's parameters and 0.17% of the training data, confirming DocSnap's competitiveness.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2103120"/>
            <a:ext cx="3749040" cy="3200400"/>
          </a:xfrm>
          <a:prstGeom prst="roundRect">
            <a:avLst>
              <a:gd name="adj" fmla="val 2857"/>
            </a:avLst>
          </a:prstGeom>
          <a:solidFill>
            <a:srgbClr val="DEE5D5"/>
          </a:solidFill>
          <a:ln w="19050">
            <a:solidFill>
              <a:srgbClr val="437A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0" y="2103120"/>
            <a:ext cx="3749040" cy="384048"/>
          </a:xfrm>
          <a:prstGeom prst="rect">
            <a:avLst/>
          </a:prstGeom>
          <a:solidFill>
            <a:srgbClr val="437A22"/>
          </a:solidFill>
          <a:ln w="12700">
            <a:solidFill>
              <a:srgbClr val="437A2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840" y="213055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Value Delivered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80560" y="2606040"/>
            <a:ext cx="3383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fully deployed application with 2.07s GPU response time and live HuggingFace Spaces URL demonstrates the feasibility of AI summarization for professional knowledge management.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2103120"/>
            <a:ext cx="3749040" cy="3200400"/>
          </a:xfrm>
          <a:prstGeom prst="roundRect">
            <a:avLst>
              <a:gd name="adj" fmla="val 2857"/>
            </a:avLst>
          </a:prstGeom>
          <a:solidFill>
            <a:srgbClr val="E6DCEA"/>
          </a:solidFill>
          <a:ln w="19050">
            <a:solidFill>
              <a:srgbClr val="7A39B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0" y="2103120"/>
            <a:ext cx="3749040" cy="384048"/>
          </a:xfrm>
          <a:prstGeom prst="rect">
            <a:avLst/>
          </a:prstGeom>
          <a:solidFill>
            <a:srgbClr val="7A39BB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66760" y="213055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Contribution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412480" y="2606040"/>
            <a:ext cx="3383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integrates data science, NLP, and software engineering — spanning data collection, model training, evaluation, and deployment as a full-cycle MBA Data Science capstone.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5486400"/>
            <a:ext cx="3749040" cy="1097280"/>
          </a:xfrm>
          <a:prstGeom prst="roundRect">
            <a:avLst>
              <a:gd name="adj" fmla="val 8333"/>
            </a:avLst>
          </a:prstGeom>
          <a:solidFill>
            <a:srgbClr val="163335"/>
          </a:solidFill>
          <a:ln w="19050">
            <a:solidFill>
              <a:srgbClr val="437A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562356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37A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 Accepted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457200" y="6236208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Abstractive &gt; Extractive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297680" y="5486400"/>
            <a:ext cx="3749040" cy="1097280"/>
          </a:xfrm>
          <a:prstGeom prst="roundRect">
            <a:avLst>
              <a:gd name="adj" fmla="val 8333"/>
            </a:avLst>
          </a:prstGeom>
          <a:solidFill>
            <a:srgbClr val="163335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89120" y="562356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ROUGE-1 0.4584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4389120" y="6236208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Comparable to BART baseline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229600" y="5486400"/>
            <a:ext cx="3749040" cy="1097280"/>
          </a:xfrm>
          <a:prstGeom prst="roundRect">
            <a:avLst>
              <a:gd name="adj" fmla="val 8333"/>
            </a:avLst>
          </a:prstGeom>
          <a:solidFill>
            <a:srgbClr val="163335"/>
          </a:solidFill>
          <a:ln w="19050">
            <a:solidFill>
              <a:srgbClr val="DA710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21040" y="562356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Deployed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8321040" y="6236208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 Spaces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METHODOLOGY — CLARIFICATIONS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Methodology Notes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Addressing common evaluation questions on timeline, sample size, and deployment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5577840" cy="2103120"/>
          </a:xfrm>
          <a:prstGeom prst="roundRect">
            <a:avLst>
              <a:gd name="adj" fmla="val 4348"/>
            </a:avLst>
          </a:prstGeom>
          <a:solidFill>
            <a:srgbClr val="E6ECE9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463040"/>
            <a:ext cx="5577840" cy="34747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49961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— 5 Phases, Not 5 Weeks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1920240"/>
            <a:ext cx="521208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5 notebooks represent sequential project phases (Data → EDA → Models → Evaluation → Deployment), completed across the full semester. Each phase spans multiple calendar weeks.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463040"/>
            <a:ext cx="5577840" cy="2103120"/>
          </a:xfrm>
          <a:prstGeom prst="roundRect">
            <a:avLst>
              <a:gd name="adj" fmla="val 4348"/>
            </a:avLst>
          </a:prstGeom>
          <a:solidFill>
            <a:srgbClr val="EEE9EE"/>
          </a:solidFill>
          <a:ln w="19050">
            <a:solidFill>
              <a:srgbClr val="7A39B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463040"/>
            <a:ext cx="5577840" cy="347472"/>
          </a:xfrm>
          <a:prstGeom prst="rect">
            <a:avLst/>
          </a:prstGeom>
          <a:solidFill>
            <a:srgbClr val="7A39BB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55080" y="149961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Validation Split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0" y="1920240"/>
            <a:ext cx="521208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fine-tuning articles split 80/20: 400 training + 100 validation. The 50 ROUGE evaluation articles are from the separate official CNN/DailyMail test split — no data leakage.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3794760"/>
            <a:ext cx="5577840" cy="2103120"/>
          </a:xfrm>
          <a:prstGeom prst="roundRect">
            <a:avLst>
              <a:gd name="adj" fmla="val 4348"/>
            </a:avLst>
          </a:prstGeom>
          <a:solidFill>
            <a:srgbClr val="F5EDE1"/>
          </a:solidFill>
          <a:ln w="19050">
            <a:solidFill>
              <a:srgbClr val="DA710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3794760"/>
            <a:ext cx="5577840" cy="347472"/>
          </a:xfrm>
          <a:prstGeom prst="rect">
            <a:avLst/>
          </a:prstGeom>
          <a:solidFill>
            <a:srgbClr val="DA7101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83133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Size Justification (50 Articles)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4251960"/>
            <a:ext cx="521208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Colab free tier limits sessions to ~90 mins. Full 11,490 article evaluation would take 6–7 hours. At n=50, CI is ±0.028 — T5-base leads TextRank by 0.1854 (~6.6× the margin), strongly supporting H1.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17920" y="3794760"/>
            <a:ext cx="5577840" cy="2103120"/>
          </a:xfrm>
          <a:prstGeom prst="roundRect">
            <a:avLst>
              <a:gd name="adj" fmla="val 4348"/>
            </a:avLst>
          </a:prstGeom>
          <a:solidFill>
            <a:srgbClr val="F1E8E6"/>
          </a:solidFill>
          <a:ln w="19050">
            <a:solidFill>
              <a:srgbClr val="A1354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17920" y="3794760"/>
            <a:ext cx="5577840" cy="347472"/>
          </a:xfrm>
          <a:prstGeom prst="rect">
            <a:avLst/>
          </a:prstGeom>
          <a:solidFill>
            <a:srgbClr val="A13544"/>
          </a:solidFill>
          <a:ln w="12700">
            <a:solidFill>
              <a:srgbClr val="A1354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383133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vs CPU Latency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0" y="4251960"/>
            <a:ext cx="521208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2.07s (Flask) and 1.79s (Streamlit) measured on Colab T4 GPU. HuggingFace Spaces (free CPU tier): warm inference ~8–15s, cold start ~15–30s. Quantization (INT8) would achieve sub-2s on CPU.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5760" y="6336792"/>
            <a:ext cx="1143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details: </a:t>
            </a:r>
            <a:pPr indent="0" marL="0">
              <a:buNone/>
            </a:pPr>
            <a:r>
              <a:rPr lang="en-US" sz="900" u="sng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github.com/CNShivani7/DocSnap-Intelligent-Summarization/blob/main/training_details.md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2A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548640"/>
            <a:ext cx="11430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365760" y="160020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2194560"/>
            <a:ext cx="2743200" cy="2743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23774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Chimalamarry Naga Shivani Sharma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269748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AA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MBA (Data Science) — Semester IV  |  Amity University Online  |  Enrollment: A9920124015210(el)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AA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Mentor: Kunwar Saurabh Bisen  |  Keystone Advisory Group, Chennai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3566160"/>
            <a:ext cx="2743200" cy="594360"/>
          </a:xfrm>
          <a:prstGeom prst="roundRect">
            <a:avLst>
              <a:gd name="adj" fmla="val 12308"/>
            </a:avLst>
          </a:prstGeom>
          <a:solidFill>
            <a:srgbClr val="C8DBD9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356616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HuggingFace Model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91840" y="3566160"/>
            <a:ext cx="2743200" cy="594360"/>
          </a:xfrm>
          <a:prstGeom prst="roundRect">
            <a:avLst>
              <a:gd name="adj" fmla="val 12308"/>
            </a:avLst>
          </a:prstGeom>
          <a:solidFill>
            <a:srgbClr val="C8DBD9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356616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Demo (Spaces)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17920" y="3566160"/>
            <a:ext cx="2743200" cy="594360"/>
          </a:xfrm>
          <a:prstGeom prst="roundRect">
            <a:avLst>
              <a:gd name="adj" fmla="val 12308"/>
            </a:avLst>
          </a:prstGeom>
          <a:solidFill>
            <a:srgbClr val="C8DBD9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0" y="356616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Repo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144000" y="3566160"/>
            <a:ext cx="2743200" cy="594360"/>
          </a:xfrm>
          <a:prstGeom prst="roundRect">
            <a:avLst>
              <a:gd name="adj" fmla="val 12308"/>
            </a:avLst>
          </a:prstGeom>
          <a:solidFill>
            <a:srgbClr val="C8DBD9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0" y="356616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Dataset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65760" y="443484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References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65760" y="4800600"/>
            <a:ext cx="114300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Vaswani et al. (2017) — Attention is All You Need. NeurIPS.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65760" y="5129784"/>
            <a:ext cx="114300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Devlin et al. (2019) — BERT: Pre-training of Deep Bidirectional Transformers. NAACL.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65760" y="5458968"/>
            <a:ext cx="114300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Raffel et al. (2020) — T5: Exploring the Limits of Transfer Learning. JMLR.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65760" y="5788152"/>
            <a:ext cx="114300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Lewis et al. (2020) — BART: Denoising Sequence-to-Sequence Pre-training. ACL.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65760" y="6117336"/>
            <a:ext cx="114300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Hermann et al. (2015) — Teaching Machines to Read and Comprehend. NeurIPS. [CNN/DailyMail]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2026-04-10T08:21:46Z</dcterms:created>
  <dcterms:modified xsi:type="dcterms:W3CDTF">2026-04-10T08:21:46Z</dcterms:modified>
</cp:coreProperties>
</file>